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ro-nosotros.png"/>
          <p:cNvPicPr>
            <a:picLocks noChangeAspect="1"/>
          </p:cNvPicPr>
          <p:nvPr/>
        </p:nvPicPr>
        <p:blipFill>
          <a:blip r:embed="rId2"/>
          <a:srcRect l="32216" r="3221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30568" y="0"/>
            <a:ext cx="109728" cy="6858000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smart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2423160" cy="565404"/>
          </a:xfrm>
          <a:prstGeom prst="rect">
            <a:avLst/>
          </a:prstGeom>
        </p:spPr>
      </p:pic>
      <p:pic>
        <p:nvPicPr>
          <p:cNvPr id="6" name="Picture 5" descr="logo-ut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30352"/>
            <a:ext cx="841248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" y="1847088"/>
            <a:ext cx="5394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8DE7E"/>
                </a:solidFill>
                <a:latin typeface="Aptos"/>
              </a:defRPr>
            </a:pPr>
            <a:r>
              <a:t>SISTEMA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12848"/>
            <a:ext cx="562356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3800" b="1">
                <a:solidFill>
                  <a:srgbClr val="FFFFFF"/>
                </a:solidFill>
                <a:latin typeface="Aptos"/>
              </a:defRPr>
            </a:pPr>
            <a:r>
              <a:t>SmartDent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044952"/>
            <a:ext cx="5413248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2000" b="0">
                <a:solidFill>
                  <a:srgbClr val="C5D7EB"/>
                </a:solidFill>
                <a:latin typeface="Aptos"/>
              </a:defRPr>
            </a:pPr>
            <a:r>
              <a:t>Gestión inteligente de citas y atenciones odontológicas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4160520"/>
            <a:ext cx="1143000" cy="6400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4407408"/>
            <a:ext cx="49377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Avance 1 · Desarrollo Web Integrado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4800600"/>
            <a:ext cx="4937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9FB4CC"/>
                </a:solidFill>
                <a:latin typeface="Aptos"/>
              </a:defRPr>
            </a:pPr>
            <a:r>
              <a:t>Universidad Tecnológica del Perú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94960"/>
            <a:ext cx="5212080" cy="9802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2000"/>
              </a:lnSpc>
              <a:defRPr sz="860" b="0">
                <a:solidFill>
                  <a:srgbClr val="9FB4CC"/>
                </a:solidFill>
                <a:latin typeface="Aptos"/>
              </a:defRPr>
            </a:pPr>
            <a:r>
              <a:rPr sz="1600" dirty="0"/>
              <a:t>Acevedo Huarachi Kelvin Jesus · U23309803</a:t>
            </a:r>
            <a:br>
              <a:rPr sz="1600" dirty="0"/>
            </a:br>
            <a:r>
              <a:rPr sz="1600" dirty="0" err="1"/>
              <a:t>Añorga</a:t>
            </a:r>
            <a:r>
              <a:rPr sz="1600" dirty="0"/>
              <a:t> </a:t>
            </a:r>
            <a:r>
              <a:rPr sz="1600" dirty="0" err="1"/>
              <a:t>Pinedo</a:t>
            </a:r>
            <a:r>
              <a:rPr sz="1600" dirty="0"/>
              <a:t> Paolo Alexander · U23305864</a:t>
            </a:r>
            <a:br>
              <a:rPr sz="1600" dirty="0"/>
            </a:br>
            <a:r>
              <a:rPr sz="1600" dirty="0"/>
              <a:t>Calle Paredes </a:t>
            </a:r>
            <a:r>
              <a:rPr sz="1600" dirty="0" err="1"/>
              <a:t>Maykol</a:t>
            </a:r>
            <a:r>
              <a:rPr sz="1600" dirty="0"/>
              <a:t> Adan · U23242558</a:t>
            </a:r>
            <a:br>
              <a:rPr sz="1600" dirty="0"/>
            </a:br>
            <a:r>
              <a:rPr sz="1600" dirty="0"/>
              <a:t>Salinas Perez Joseph Sebastian · U23325202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Tecnologías implementadas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Stack utilizado en el prototipo 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993392"/>
            <a:ext cx="621792" cy="621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Estructura 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993392"/>
            <a:ext cx="621792" cy="621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44368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Estilos globales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ailwindc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864" y="1993392"/>
            <a:ext cx="621792" cy="6217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12080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Componentes visuales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0063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javascri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5" y="1993392"/>
            <a:ext cx="621792" cy="6217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79791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1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Interacción y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37776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jav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288" y="1993392"/>
            <a:ext cx="621792" cy="6217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47503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Java 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3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Lenguaje backend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pr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40" y="3931920"/>
            <a:ext cx="621792" cy="6217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6656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API REST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hiberna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2152" y="3931920"/>
            <a:ext cx="621792" cy="6217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944368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JPA / Hibernate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Persistencia 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02352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mariad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864" y="3931920"/>
            <a:ext cx="621792" cy="6217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12080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MariaDB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Base de datos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70063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juni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7575" y="3931920"/>
            <a:ext cx="621792" cy="6217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79791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JUnit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9791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Pruebas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37776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swagg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5288" y="3931920"/>
            <a:ext cx="621792" cy="62179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47503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Swagger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7503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Documentación API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806440"/>
            <a:ext cx="11064240" cy="438912"/>
          </a:xfrm>
          <a:prstGeom prst="roundRect">
            <a:avLst/>
          </a:prstGeom>
          <a:solidFill>
            <a:srgbClr val="E9FBFD"/>
          </a:solidFill>
          <a:ln>
            <a:solidFill>
              <a:srgbClr val="BC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5907024"/>
            <a:ext cx="10561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06172E"/>
                </a:solidFill>
                <a:latin typeface="Aptos"/>
              </a:defRPr>
            </a:pPr>
            <a:r>
              <a:t>Seguridad transversal: Spring Security + JWT + BCrypt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"/>
              </a:defRPr>
            </a:pPr>
            <a:r>
              <a:t>El problema que resolvemos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AFC3DB"/>
                </a:solidFill>
                <a:latin typeface="Aptos"/>
              </a:defRPr>
            </a:pPr>
            <a:r>
              <a:t>La gestión manual limita el crecimiento de la clínica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11D8E5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8" name="Picture 7" descr="consulta-diagnostico.png"/>
          <p:cNvPicPr>
            <a:picLocks noChangeAspect="1"/>
          </p:cNvPicPr>
          <p:nvPr/>
        </p:nvPicPr>
        <p:blipFill>
          <a:blip r:embed="rId3"/>
          <a:srcRect l="11229" r="11229"/>
          <a:stretch>
            <a:fillRect/>
          </a:stretch>
        </p:blipFill>
        <p:spPr>
          <a:xfrm>
            <a:off x="7150608" y="1719072"/>
            <a:ext cx="4462272" cy="43159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50608" y="5742432"/>
            <a:ext cx="4462272" cy="29260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806440" cy="1005840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73152" cy="1005840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5349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01  Cruces de horarios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468880"/>
            <a:ext cx="5349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Reservas coordinadas por llamadas, cuadernos o mensajes generan duplicidad.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044952"/>
            <a:ext cx="5806440" cy="1005840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044952"/>
            <a:ext cx="73152" cy="10058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246120"/>
            <a:ext cx="5349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02  Información dispersa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685032"/>
            <a:ext cx="5349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Los datos del paciente y sus atenciones quedan sin una trazabilidad central.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61104"/>
            <a:ext cx="5806440" cy="1005840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4261104"/>
            <a:ext cx="73152" cy="1005840"/>
          </a:xfrm>
          <a:prstGeom prst="rect">
            <a:avLst/>
          </a:prstGeom>
          <a:solidFill>
            <a:srgbClr val="D7263D"/>
          </a:solidFill>
          <a:ln>
            <a:solidFill>
              <a:srgbClr val="D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462272"/>
            <a:ext cx="5349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03  Poco control operativo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901184"/>
            <a:ext cx="5349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Es difícil supervisar agendas, servicios, ingresos y rendimiento de la clínica.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Solución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Una plataforma central para pacientes, odontólogos y administración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783080"/>
            <a:ext cx="3657600" cy="4160520"/>
          </a:xfrm>
          <a:prstGeom prst="round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2971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8DE7E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297180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defRPr sz="2100" b="1">
                <a:solidFill>
                  <a:srgbClr val="FFFFFF"/>
                </a:solidFill>
                <a:latin typeface="Aptos"/>
              </a:defRPr>
            </a:pPr>
            <a:r>
              <a:t>Desarrollar un sistema web integrado que gestione de forma segura y eficiente los procesos odontológicos.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315968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1D8E5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681728"/>
            <a:ext cx="288036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C6D8EB"/>
                </a:solidFill>
                <a:latin typeface="Aptos"/>
              </a:defRPr>
            </a:pPr>
            <a:r>
              <a:t>Menos errores, mejor trazabilidad y una experiencia clara para cada 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5152" y="1847088"/>
            <a:ext cx="310896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45152" y="1847088"/>
            <a:ext cx="73152" cy="1627632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01184" y="2048256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API RESTful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2487168"/>
            <a:ext cx="265176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Servicios organizados y documentados.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847088"/>
            <a:ext cx="310896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847088"/>
            <a:ext cx="73152" cy="1627632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7" y="2048256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Persistencia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487168"/>
            <a:ext cx="265176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Datos reales mediante JPA y MariaDB.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3840480"/>
            <a:ext cx="310896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45152" y="3840480"/>
            <a:ext cx="73152" cy="1627632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01184" y="4041648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4480560"/>
            <a:ext cx="265176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Autenticación JWT y permisos por 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840480"/>
            <a:ext cx="310896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83296" y="3840480"/>
            <a:ext cx="73152" cy="1627632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7" y="4041648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Integración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480560"/>
            <a:ext cx="265176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Frontend conectado a la API del backend.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Arquitectura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Separación por capas para mantener responsabilidades claras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340864"/>
            <a:ext cx="1847088" cy="10972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1D8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HTML · Tailwind CSS · JavaScript</a:t>
            </a:r>
          </a:p>
        </p:txBody>
      </p:sp>
      <p:sp>
        <p:nvSpPr>
          <p:cNvPr id="13" name="Chevron 12"/>
          <p:cNvSpPr/>
          <p:nvPr/>
        </p:nvSpPr>
        <p:spPr>
          <a:xfrm>
            <a:off x="2660904" y="3118104"/>
            <a:ext cx="329184" cy="420624"/>
          </a:xfrm>
          <a:prstGeom prst="chevron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35808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35808" y="2340864"/>
            <a:ext cx="1847088" cy="10972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D4A9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API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Controladores + DTO + validaciones</a:t>
            </a:r>
          </a:p>
        </p:txBody>
      </p:sp>
      <p:sp>
        <p:nvSpPr>
          <p:cNvPr id="19" name="Chevron 18"/>
          <p:cNvSpPr/>
          <p:nvPr/>
        </p:nvSpPr>
        <p:spPr>
          <a:xfrm>
            <a:off x="4919472" y="3118104"/>
            <a:ext cx="329184" cy="420624"/>
          </a:xfrm>
          <a:prstGeom prst="chevron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94376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94376" y="2340864"/>
            <a:ext cx="1847088" cy="109728"/>
          </a:xfrm>
          <a:prstGeom prst="rect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58968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B7BE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NEGOCIO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Servicios + reglas + seguridad JWT</a:t>
            </a:r>
          </a:p>
        </p:txBody>
      </p:sp>
      <p:sp>
        <p:nvSpPr>
          <p:cNvPr id="25" name="Chevron 24"/>
          <p:cNvSpPr/>
          <p:nvPr/>
        </p:nvSpPr>
        <p:spPr>
          <a:xfrm>
            <a:off x="7178040" y="3118104"/>
            <a:ext cx="329184" cy="420624"/>
          </a:xfrm>
          <a:prstGeom prst="chevron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52944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52944" y="2340864"/>
            <a:ext cx="1847088" cy="109728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17536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9B59B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PERSISTENCIA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Spring Data JPA · Hibernate</a:t>
            </a:r>
          </a:p>
        </p:txBody>
      </p:sp>
      <p:sp>
        <p:nvSpPr>
          <p:cNvPr id="31" name="Chevron 30"/>
          <p:cNvSpPr/>
          <p:nvPr/>
        </p:nvSpPr>
        <p:spPr>
          <a:xfrm>
            <a:off x="9436608" y="3118104"/>
            <a:ext cx="329184" cy="420624"/>
          </a:xfrm>
          <a:prstGeom prst="chevron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11512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811512" y="2340864"/>
            <a:ext cx="1847088" cy="109728"/>
          </a:xfrm>
          <a:prstGeom prst="rect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76104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9875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6104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MariaDB · smartdent_db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47672" y="5010912"/>
            <a:ext cx="8275320" cy="658368"/>
          </a:xfrm>
          <a:prstGeom prst="roundRect">
            <a:avLst/>
          </a:prstGeom>
          <a:solidFill>
            <a:srgbClr val="EAFBFD"/>
          </a:solidFill>
          <a:ln>
            <a:solidFill>
              <a:srgbClr val="BC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48840" y="5221224"/>
            <a:ext cx="7882127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6172E"/>
                </a:solidFill>
                <a:latin typeface="Aptos"/>
              </a:defRPr>
            </a:pPr>
            <a:r>
              <a:t>Flujo principal: navegador → HTTP/JSON → Controller → Service → Repository → MariaDB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Tres roles, una sola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Cada usuario accede únicamente a las funciones que necesita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828800"/>
            <a:ext cx="3456432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11095" y="2157984"/>
            <a:ext cx="841248" cy="84124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11095" y="2304288"/>
            <a:ext cx="8412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27832"/>
            <a:ext cx="2907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PACIENTE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913631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822191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Reserva y reprograma citas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443983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352544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Consulta historial clínico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974336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882896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Configura recordatorios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1828800"/>
            <a:ext cx="3456432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51576" y="2157984"/>
            <a:ext cx="841248" cy="84124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51576" y="2304288"/>
            <a:ext cx="8412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227832"/>
            <a:ext cx="2907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ODONTÓLOGO</a:t>
            </a:r>
          </a:p>
        </p:txBody>
      </p:sp>
      <p:sp>
        <p:nvSpPr>
          <p:cNvPr id="22" name="Oval 21"/>
          <p:cNvSpPr/>
          <p:nvPr/>
        </p:nvSpPr>
        <p:spPr>
          <a:xfrm>
            <a:off x="4800600" y="3913631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0" y="3822191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Gestiona su agenda</a:t>
            </a:r>
          </a:p>
        </p:txBody>
      </p:sp>
      <p:sp>
        <p:nvSpPr>
          <p:cNvPr id="24" name="Oval 23"/>
          <p:cNvSpPr/>
          <p:nvPr/>
        </p:nvSpPr>
        <p:spPr>
          <a:xfrm>
            <a:off x="4800600" y="4443983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352544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Registra diagnóstico y tratamiento</a:t>
            </a:r>
          </a:p>
        </p:txBody>
      </p:sp>
      <p:sp>
        <p:nvSpPr>
          <p:cNvPr id="26" name="Oval 25"/>
          <p:cNvSpPr/>
          <p:nvPr/>
        </p:nvSpPr>
        <p:spPr>
          <a:xfrm>
            <a:off x="4800600" y="4974336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4882896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Bloquea horarios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93608" y="1828800"/>
            <a:ext cx="3456432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92056" y="2157984"/>
            <a:ext cx="841248" cy="841248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92056" y="2304288"/>
            <a:ext cx="8412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3227832"/>
            <a:ext cx="2907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ADMINISTRADOR</a:t>
            </a:r>
          </a:p>
        </p:txBody>
      </p:sp>
      <p:sp>
        <p:nvSpPr>
          <p:cNvPr id="32" name="Oval 31"/>
          <p:cNvSpPr/>
          <p:nvPr/>
        </p:nvSpPr>
        <p:spPr>
          <a:xfrm>
            <a:off x="8641080" y="3913631"/>
            <a:ext cx="109728" cy="109728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0" y="3822191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Supervisa la agenda global</a:t>
            </a:r>
          </a:p>
        </p:txBody>
      </p:sp>
      <p:sp>
        <p:nvSpPr>
          <p:cNvPr id="34" name="Oval 33"/>
          <p:cNvSpPr/>
          <p:nvPr/>
        </p:nvSpPr>
        <p:spPr>
          <a:xfrm>
            <a:off x="8641080" y="4443983"/>
            <a:ext cx="109728" cy="109728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9680" y="4352544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Gestiona profesionales y tarifas</a:t>
            </a:r>
          </a:p>
        </p:txBody>
      </p:sp>
      <p:sp>
        <p:nvSpPr>
          <p:cNvPr id="36" name="Oval 35"/>
          <p:cNvSpPr/>
          <p:nvPr/>
        </p:nvSpPr>
        <p:spPr>
          <a:xfrm>
            <a:off x="8641080" y="4974336"/>
            <a:ext cx="109728" cy="109728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0" y="4882896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Analiza reportes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Flujo principal: reservar una cita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Proceso completo y trazable desde el catálogo hasta la atención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1216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6816" y="2276856"/>
            <a:ext cx="1545336" cy="914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Servicio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El paciente elige el tratamiento.</a:t>
            </a:r>
          </a:p>
        </p:txBody>
      </p:sp>
      <p:sp>
        <p:nvSpPr>
          <p:cNvPr id="13" name="Oval 12"/>
          <p:cNvSpPr/>
          <p:nvPr/>
        </p:nvSpPr>
        <p:spPr>
          <a:xfrm>
            <a:off x="3502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2276856"/>
            <a:ext cx="1545336" cy="914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07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Profesional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Selecciona un odontólogo disponible.</a:t>
            </a:r>
          </a:p>
        </p:txBody>
      </p:sp>
      <p:sp>
        <p:nvSpPr>
          <p:cNvPr id="18" name="Oval 17"/>
          <p:cNvSpPr/>
          <p:nvPr/>
        </p:nvSpPr>
        <p:spPr>
          <a:xfrm>
            <a:off x="5788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88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2276856"/>
            <a:ext cx="1545336" cy="914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93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Fecha y hora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La API valida cruces y bloqueos.</a:t>
            </a:r>
          </a:p>
        </p:txBody>
      </p:sp>
      <p:sp>
        <p:nvSpPr>
          <p:cNvPr id="23" name="Oval 22"/>
          <p:cNvSpPr/>
          <p:nvPr/>
        </p:nvSpPr>
        <p:spPr>
          <a:xfrm>
            <a:off x="8074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74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14816" y="2276856"/>
            <a:ext cx="1545336" cy="914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79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Confirmación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La cita queda en estado pendiente.</a:t>
            </a:r>
          </a:p>
        </p:txBody>
      </p:sp>
      <p:sp>
        <p:nvSpPr>
          <p:cNvPr id="28" name="Oval 27"/>
          <p:cNvSpPr/>
          <p:nvPr/>
        </p:nvSpPr>
        <p:spPr>
          <a:xfrm>
            <a:off x="10360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60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Atención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El odontólogo registra la historia clínica.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" y="4892040"/>
            <a:ext cx="10058400" cy="786384"/>
          </a:xfrm>
          <a:prstGeom prst="roundRect">
            <a:avLst/>
          </a:prstGeom>
          <a:solidFill>
            <a:srgbClr val="FFF9DF"/>
          </a:solidFill>
          <a:ln>
            <a:solidFill>
              <a:srgbClr val="E9D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35024" y="5138928"/>
            <a:ext cx="9509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06172E"/>
                </a:solidFill>
                <a:latin typeface="Aptos"/>
              </a:defRPr>
            </a:pPr>
            <a:r>
              <a:t>Regla clave: un horario reservado o bloqueado desaparece de la disponibilidad y no puede duplicarse.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"/>
              </a:defRPr>
            </a:pPr>
            <a:r>
              <a:t>Persistencia y modelo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AFC3DB"/>
                </a:solidFill>
                <a:latin typeface="Aptos"/>
              </a:defRPr>
            </a:pPr>
            <a:r>
              <a:t>Los datos de negocio se almacenan en MariaDB, no en el navegador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11D8E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6537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65376"/>
            <a:ext cx="73152" cy="1243584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6654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0545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roles · configuración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3" y="186537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3983" y="1865376"/>
            <a:ext cx="73152" cy="1243584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0016" y="206654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ODONTÓLOGOS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50545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servicios asignados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6537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865376"/>
            <a:ext cx="73152" cy="1243584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206654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CITAS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50545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estado · fecha · precio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1985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419856"/>
            <a:ext cx="73152" cy="1243584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62102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HISTORIAS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5993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diagnóstico · tratamiento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3983" y="341985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43983" y="3419856"/>
            <a:ext cx="73152" cy="1243584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0016" y="362102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SERVICIOS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405993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tarifa · costo · duración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41985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419856"/>
            <a:ext cx="73152" cy="1243584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85632" y="362102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REPORTES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405993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costos fijos · indicadores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98448" y="5175504"/>
            <a:ext cx="9601200" cy="676656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81912" y="5385816"/>
            <a:ext cx="90525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1D8E5"/>
                </a:solidFill>
                <a:latin typeface="Aptos"/>
              </a:rPr>
              <a:t>Navegador: </a:t>
            </a:r>
            <a:r>
              <a:rPr sz="1150" b="0">
                <a:solidFill>
                  <a:srgbClr val="FFFFFF"/>
                </a:solidFill>
                <a:latin typeface="Aptos"/>
              </a:rPr>
              <a:t>solo JWT y navegación temporal   </a:t>
            </a:r>
            <a:r>
              <a:rPr sz="1150" b="1">
                <a:solidFill>
                  <a:srgbClr val="F8DE7E"/>
                </a:solidFill>
                <a:latin typeface="Aptos"/>
              </a:rPr>
              <a:t>Base de datos: </a:t>
            </a:r>
            <a:r>
              <a:rPr sz="1150" b="0">
                <a:solidFill>
                  <a:srgbClr val="FFFFFF"/>
                </a:solidFill>
                <a:latin typeface="Aptos"/>
              </a:rPr>
              <a:t>usuarios, citas, historias, servicios y reportes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API REST, documentación y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Endpoints organizados por contexto y protegidos según el 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10512"/>
            <a:ext cx="252374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810512"/>
            <a:ext cx="73152" cy="1600200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2066543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PÚBLICO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50591"/>
            <a:ext cx="2066543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/api/auth · /api/servicios</a:t>
            </a:r>
            <a:br/>
            <a:r>
              <a:t>/api/odontologos · /api/contacto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810512"/>
            <a:ext cx="252374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65576" y="1810512"/>
            <a:ext cx="73152" cy="160020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2011680"/>
            <a:ext cx="2066543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PACIENTE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450591"/>
            <a:ext cx="2066543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/api/pacientes/citas</a:t>
            </a:r>
            <a:br/>
            <a:r>
              <a:t>/historias-clinicas · configuración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10512"/>
            <a:ext cx="252374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1810512"/>
            <a:ext cx="73152" cy="1600200"/>
          </a:xfrm>
          <a:prstGeom prst="rect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2011680"/>
            <a:ext cx="2066543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ODONTÓLOGO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450591"/>
            <a:ext cx="2066543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/api/odontologos/mi-agenda</a:t>
            </a:r>
            <a:br/>
            <a:r>
              <a:t>/citas · historias · bloqueos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810512"/>
            <a:ext cx="252374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53144" y="1810512"/>
            <a:ext cx="73152" cy="1600200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09176" y="2011680"/>
            <a:ext cx="2066543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450591"/>
            <a:ext cx="2066543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/api/admin/citas · usuarios</a:t>
            </a:r>
            <a:br/>
            <a:r>
              <a:t>servicios · reportes · mensajes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858768"/>
            <a:ext cx="192024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6172E"/>
                </a:solidFill>
                <a:latin typeface="Aptos"/>
              </a:defRPr>
            </a:pPr>
            <a:r>
              <a:t>Autenticación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416552"/>
            <a:ext cx="2212848" cy="713232"/>
          </a:xfrm>
          <a:prstGeom prst="round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626864"/>
            <a:ext cx="199339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Correo + contraseña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590288"/>
            <a:ext cx="3291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D4A9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288" y="4416552"/>
            <a:ext cx="2212848" cy="713232"/>
          </a:xfrm>
          <a:prstGeom prst="round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57016" y="4626864"/>
            <a:ext cx="199339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BCrypt verifica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1576" y="4590288"/>
            <a:ext cx="3291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D4A9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7064" y="4416552"/>
            <a:ext cx="2212848" cy="713232"/>
          </a:xfrm>
          <a:prstGeom prst="round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6792" y="4626864"/>
            <a:ext cx="199339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JWT firmado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4590288"/>
            <a:ext cx="3291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D4A9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4416552"/>
            <a:ext cx="2212848" cy="713232"/>
          </a:xfrm>
          <a:prstGeom prst="round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16568" y="4626864"/>
            <a:ext cx="199339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Permiso por rol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5577840"/>
            <a:ext cx="5285232" cy="493776"/>
          </a:xfrm>
          <a:prstGeom prst="roundRect">
            <a:avLst/>
          </a:prstGeom>
          <a:solidFill>
            <a:srgbClr val="EAFBFD"/>
          </a:solidFill>
          <a:ln>
            <a:solidFill>
              <a:srgbClr val="BC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39312" y="5715000"/>
            <a:ext cx="4919472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80" b="1">
                <a:solidFill>
                  <a:srgbClr val="06172E"/>
                </a:solidFill>
                <a:latin typeface="Aptos"/>
              </a:defRPr>
            </a:pPr>
            <a:r>
              <a:t>Swagger UI: http://localhost:8080/swagger-ui.html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"/>
              </a:defRPr>
            </a:pPr>
            <a:r>
              <a:t>TDD y estrategia de 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AFC3DB"/>
                </a:solidFill>
                <a:latin typeface="Aptos"/>
              </a:defRPr>
            </a:pPr>
            <a:r>
              <a:t>Retroalimentación continua: rojo, verde y refactorización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11D8E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975104"/>
            <a:ext cx="2057400" cy="2057400"/>
          </a:xfrm>
          <a:prstGeom prst="ellipse">
            <a:avLst/>
          </a:prstGeom>
          <a:solidFill>
            <a:srgbClr val="D7263D"/>
          </a:solidFill>
          <a:ln>
            <a:solidFill>
              <a:srgbClr val="D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6002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ROJO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26080"/>
            <a:ext cx="156362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FFFFFF"/>
                </a:solidFill>
                <a:latin typeface="Aptos"/>
              </a:defRPr>
            </a:pPr>
            <a:r>
              <a:t>Escribir una prueba que falle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770632"/>
            <a:ext cx="4206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8DE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520440" y="1975104"/>
            <a:ext cx="2057400" cy="2057400"/>
          </a:xfrm>
          <a:prstGeom prst="ellipse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2487168"/>
            <a:ext cx="16002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VERDE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926080"/>
            <a:ext cx="156362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FFFFFF"/>
                </a:solidFill>
                <a:latin typeface="Aptos"/>
              </a:defRPr>
            </a:pPr>
            <a:r>
              <a:t>Implementar lo mínimo para aprobar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2770632"/>
            <a:ext cx="4206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8DE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975104"/>
            <a:ext cx="2057400" cy="2057400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487168"/>
            <a:ext cx="16002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926080"/>
            <a:ext cx="156362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FFFFFF"/>
                </a:solidFill>
                <a:latin typeface="Aptos"/>
              </a:defRPr>
            </a:pPr>
            <a:r>
              <a:t>Mejorar sin cambiar el resultado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78308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64624" y="2112264"/>
            <a:ext cx="1810512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4000" b="1">
                <a:solidFill>
                  <a:srgbClr val="06172E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352" y="2907792"/>
            <a:ext cx="1591056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198754"/>
                </a:solidFill>
                <a:latin typeface="Aptos"/>
              </a:defRPr>
            </a:pPr>
            <a:r>
              <a:t>PRUEBAS</a:t>
            </a:r>
            <a:br/>
            <a:r>
              <a:t>APROBADAS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3886200"/>
            <a:ext cx="16824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60708A"/>
                </a:solidFill>
                <a:latin typeface="Aptos"/>
              </a:defRPr>
            </a:pPr>
            <a:r>
              <a:t>0 fallos · 0 errores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4901184"/>
            <a:ext cx="10771632" cy="87782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5193792"/>
            <a:ext cx="101864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70" b="1">
                <a:solidFill>
                  <a:srgbClr val="D7E6F7"/>
                </a:solidFill>
                <a:latin typeface="Aptos"/>
              </a:defRPr>
            </a:pPr>
            <a:r>
              <a:t>Cobertura principal: autenticación · roles · citas · disponibilidad · historias clínicas · reportes · OpenAPI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Prueba clave 01 · Seguridad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Verifica que el login genere un token válido con el rol correcto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7726679" cy="4407408"/>
          </a:xfrm>
          <a:prstGeom prst="roundRect">
            <a:avLst/>
          </a:prstGeom>
          <a:solidFill>
            <a:srgbClr val="07111F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" y="1947672"/>
            <a:ext cx="100584" cy="100584"/>
          </a:xfrm>
          <a:prstGeom prst="ellipse">
            <a:avLst/>
          </a:prstGeom>
          <a:solidFill>
            <a:srgbClr val="FF5F57"/>
          </a:solidFill>
          <a:ln>
            <a:solidFill>
              <a:srgbClr val="FF5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47672"/>
            <a:ext cx="100584" cy="100584"/>
          </a:xfrm>
          <a:prstGeom prst="ellipse">
            <a:avLst/>
          </a:prstGeom>
          <a:solidFill>
            <a:srgbClr val="FEBC2E"/>
          </a:solidFill>
          <a:ln>
            <a:solidFill>
              <a:srgbClr val="FE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1947672"/>
            <a:ext cx="100584" cy="100584"/>
          </a:xfrm>
          <a:prstGeom prst="ellipse">
            <a:avLst/>
          </a:prstGeom>
          <a:solidFill>
            <a:srgbClr val="28C840"/>
          </a:solidFill>
          <a:ln>
            <a:solidFill>
              <a:srgbClr val="28C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240280"/>
            <a:ext cx="7324344" cy="3813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88000"/>
              </a:lnSpc>
              <a:defRPr sz="1019" b="0">
                <a:solidFill>
                  <a:srgbClr val="D7E6F7"/>
                </a:solidFill>
                <a:latin typeface="Consolas"/>
              </a:defRPr>
            </a:pPr>
            <a:r>
              <a:t>@Test</a:t>
            </a:r>
            <a:br/>
            <a:r>
              <a:t>void debeIniciarSesionYGenerarUnJwtValido() {</a:t>
            </a:r>
            <a:br/>
            <a:r>
              <a:t>    Credenciales c = registrarPaciente();</a:t>
            </a:r>
            <a:br/>
            <a:br/>
            <a:r>
              <a:t>    LoginResponse response = loginService.iniciarSesion(</a:t>
            </a:r>
            <a:br/>
            <a:r>
              <a:t>        new LoginRequest(c.email(), c.password()));</a:t>
            </a:r>
            <a:br/>
            <a:r>
              <a:t>    Jwt jwt = jwtDecoder.decode(response.token());</a:t>
            </a:r>
            <a:br/>
            <a:br/>
            <a:r>
              <a:t>    assertThat(response.tokenType()).isEqualTo("Bearer");</a:t>
            </a:r>
            <a:br/>
            <a:r>
              <a:t>    assertThat(response.expiresIn()).isPositive();</a:t>
            </a:r>
            <a:br/>
            <a:r>
              <a:t>    assertThat(jwt.getSubject()).isEqualTo(c.email());</a:t>
            </a:r>
            <a:br/>
            <a:r>
              <a:t>    assertThat(jwt.getClaimAsStringList("rol"))</a:t>
            </a:r>
            <a:br/>
            <a:r>
              <a:t>        .containsExactly("PACIENTE");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1783080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77072" y="1783080"/>
            <a:ext cx="73152" cy="111556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3104" y="1984248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QUÉ COMPRUEBA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2423160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El token pertenece al usuario autenticado.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3127248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7072" y="3127248"/>
            <a:ext cx="73152" cy="111556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33104" y="3328416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REGLA DE SEGURIDAD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3767328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El rol PACIENTE viaja como claim del JWT.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4471416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77072" y="4471416"/>
            <a:ext cx="73152" cy="1115568"/>
          </a:xfrm>
          <a:prstGeom prst="rect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33104" y="4672583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5111496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La sesión puede autorizar endpoints protegidos.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5870448"/>
            <a:ext cx="2770632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60708A"/>
                </a:solidFill>
                <a:latin typeface="Aptos"/>
              </a:defRPr>
            </a:pPr>
            <a:r>
              <a:t>AuthSecurityIntegrationTests.java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Prueba clave 02 · Reserva sin conflictos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Comprueba persistencia, visibilidad por rol y prevención de cruces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7726679" cy="4407408"/>
          </a:xfrm>
          <a:prstGeom prst="roundRect">
            <a:avLst/>
          </a:prstGeom>
          <a:solidFill>
            <a:srgbClr val="07111F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" y="1947672"/>
            <a:ext cx="100584" cy="100584"/>
          </a:xfrm>
          <a:prstGeom prst="ellipse">
            <a:avLst/>
          </a:prstGeom>
          <a:solidFill>
            <a:srgbClr val="FF5F57"/>
          </a:solidFill>
          <a:ln>
            <a:solidFill>
              <a:srgbClr val="FF5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47672"/>
            <a:ext cx="100584" cy="100584"/>
          </a:xfrm>
          <a:prstGeom prst="ellipse">
            <a:avLst/>
          </a:prstGeom>
          <a:solidFill>
            <a:srgbClr val="FEBC2E"/>
          </a:solidFill>
          <a:ln>
            <a:solidFill>
              <a:srgbClr val="FE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1947672"/>
            <a:ext cx="100584" cy="100584"/>
          </a:xfrm>
          <a:prstGeom prst="ellipse">
            <a:avLst/>
          </a:prstGeom>
          <a:solidFill>
            <a:srgbClr val="28C840"/>
          </a:solidFill>
          <a:ln>
            <a:solidFill>
              <a:srgbClr val="28C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240280"/>
            <a:ext cx="7324344" cy="3813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88000"/>
              </a:lnSpc>
              <a:defRPr sz="1019" b="0">
                <a:solidFill>
                  <a:srgbClr val="D7E6F7"/>
                </a:solidFill>
                <a:latin typeface="Consolas"/>
              </a:defRPr>
            </a:pPr>
            <a:r>
              <a:t>@Test</a:t>
            </a:r>
            <a:br/>
            <a:r>
              <a:t>void debeReservarYMostrarLaCitaEnLosTresPaneles() {</a:t>
            </a:r>
            <a:br/>
            <a:r>
              <a:t>    var cita = citaService.reservar(paciente,</a:t>
            </a:r>
            <a:br/>
            <a:r>
              <a:t>        new CrearCitaRequest(odontologo.getId(),</a:t>
            </a:r>
            <a:br/>
            <a:r>
              <a:t>            servicio.getId(), fecha, LocalTime.of(10, 0),</a:t>
            </a:r>
            <a:br/>
            <a:r>
              <a:t>            "Evaluación preventiva", "987654321"));</a:t>
            </a:r>
            <a:br/>
            <a:br/>
            <a:r>
              <a:t>    assertThat(cita.estado()).isEqualTo(PENDIENTE);</a:t>
            </a:r>
            <a:br/>
            <a:r>
              <a:t>    assertThat(citaService.listarDelPaciente(paciente))</a:t>
            </a:r>
            <a:br/>
            <a:r>
              <a:t>        .extracting("id").contains(cita.id());</a:t>
            </a:r>
            <a:br/>
            <a:r>
              <a:t>    assertThat(citaService.listarDelOdontologo(correoDoctor))</a:t>
            </a:r>
            <a:br/>
            <a:r>
              <a:t>        .extracting("id").contains(cita.id());</a:t>
            </a:r>
            <a:br/>
            <a:r>
              <a:t>    assertThat(citaService.listarTodas())</a:t>
            </a:r>
            <a:br/>
            <a:r>
              <a:t>        .extracting("id").contains(cita.id());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1783080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77072" y="1783080"/>
            <a:ext cx="73152" cy="111556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3104" y="1984248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PACIENTE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2423160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La nueva cita aparece en su panel.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3127248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7072" y="3127248"/>
            <a:ext cx="73152" cy="111556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33104" y="3328416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ODONTÓLOGO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3767328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Solo el profesional asignado puede verla.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4471416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77072" y="4471416"/>
            <a:ext cx="73152" cy="1115568"/>
          </a:xfrm>
          <a:prstGeom prst="rect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33104" y="4672583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5111496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La reserva aparece en la agenda global.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833872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869" b="0">
                <a:solidFill>
                  <a:srgbClr val="60708A"/>
                </a:solidFill>
                <a:latin typeface="Aptos"/>
              </a:defRPr>
            </a:pPr>
            <a:r>
              <a:t>CitaServiceIntegrationTests.java · fragmento real simplificado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Prueba clave 03 · Historia clínica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La atención actualiza el expediente y marca la cita como atendida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7726679" cy="4407408"/>
          </a:xfrm>
          <a:prstGeom prst="roundRect">
            <a:avLst/>
          </a:prstGeom>
          <a:solidFill>
            <a:srgbClr val="07111F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" y="1947672"/>
            <a:ext cx="100584" cy="100584"/>
          </a:xfrm>
          <a:prstGeom prst="ellipse">
            <a:avLst/>
          </a:prstGeom>
          <a:solidFill>
            <a:srgbClr val="FF5F57"/>
          </a:solidFill>
          <a:ln>
            <a:solidFill>
              <a:srgbClr val="FF5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47672"/>
            <a:ext cx="100584" cy="100584"/>
          </a:xfrm>
          <a:prstGeom prst="ellipse">
            <a:avLst/>
          </a:prstGeom>
          <a:solidFill>
            <a:srgbClr val="FEBC2E"/>
          </a:solidFill>
          <a:ln>
            <a:solidFill>
              <a:srgbClr val="FE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1947672"/>
            <a:ext cx="100584" cy="100584"/>
          </a:xfrm>
          <a:prstGeom prst="ellipse">
            <a:avLst/>
          </a:prstGeom>
          <a:solidFill>
            <a:srgbClr val="28C840"/>
          </a:solidFill>
          <a:ln>
            <a:solidFill>
              <a:srgbClr val="28C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240280"/>
            <a:ext cx="7324344" cy="3813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88000"/>
              </a:lnSpc>
              <a:defRPr sz="1019" b="0">
                <a:solidFill>
                  <a:srgbClr val="D7E6F7"/>
                </a:solidFill>
                <a:latin typeface="Consolas"/>
              </a:defRPr>
            </a:pPr>
            <a:r>
              <a:t>@Test</a:t>
            </a:r>
            <a:br/>
            <a:r>
              <a:t>void debeGuardarLaHistoriaYMarcarLaCitaAtendida() {</a:t>
            </a:r>
            <a:br/>
            <a:r>
              <a:t>    citaService.cambiarEstadoPorOdontologo(</a:t>
            </a:r>
            <a:br/>
            <a:r>
              <a:t>        correoDoctor, cita.id(), CONFIRMADA);</a:t>
            </a:r>
            <a:br/>
            <a:br/>
            <a:r>
              <a:t>    var historia = historiaClinicaService.guardar(</a:t>
            </a:r>
            <a:br/>
            <a:r>
              <a:t>        correoDoctor, paciente,</a:t>
            </a:r>
            <a:br/>
            <a:r>
              <a:t>        new GuardarHistoriaClinicaRequest(</a:t>
            </a:r>
            <a:br/>
            <a:r>
              <a:t>            cita.id(), TRATAMIENTO, "Ninguna",</a:t>
            </a:r>
            <a:br/>
            <a:r>
              <a:t>            "Pulpitis irreversible", "Endodoncia iniciada",</a:t>
            </a:r>
            <a:br/>
            <a:r>
              <a:t>            "Tomar el medicamento indicado", control, null));</a:t>
            </a:r>
            <a:br/>
            <a:br/>
            <a:r>
              <a:t>    assertThat(historia.ultimaCitaId()).isEqualTo(cita.id());</a:t>
            </a:r>
            <a:br/>
            <a:r>
              <a:t>    assertThat(citaService.listarDelPaciente(paciente)</a:t>
            </a:r>
            <a:br/>
            <a:r>
              <a:t>        .getFirst().estado()).isEqualTo(ATENDIDA);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1783080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77072" y="1783080"/>
            <a:ext cx="73152" cy="111556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3104" y="1984248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CONDICIÓN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2423160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La cita debe estar confirmada antes de atenderse.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3127248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7072" y="3127248"/>
            <a:ext cx="73152" cy="111556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33104" y="3328416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TRAZABILIDAD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3767328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Diagnóstico y tratamiento quedan vinculados.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4471416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77072" y="4471416"/>
            <a:ext cx="73152" cy="1115568"/>
          </a:xfrm>
          <a:prstGeom prst="rect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33104" y="4672583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ESTADO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5111496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Al guardar, la cita cambia a ATENDIDA.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833872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0">
                <a:solidFill>
                  <a:srgbClr val="60708A"/>
                </a:solidFill>
                <a:latin typeface="Aptos"/>
              </a:defRPr>
            </a:pPr>
            <a:r>
              <a:t>HistoriaClinicaIntegrationTests.java · fragmento real simplificado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8912"/>
            <a:ext cx="2212848" cy="5163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399032"/>
            <a:ext cx="57607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FFFFFF"/>
                </a:solidFill>
                <a:latin typeface="Aptos"/>
              </a:defRPr>
            </a:pPr>
            <a:r>
              <a:t>Resultados del avance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048256"/>
            <a:ext cx="56692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BED0E4"/>
                </a:solidFill>
                <a:latin typeface="Aptos"/>
              </a:defRPr>
            </a:pPr>
            <a:r>
              <a:t>Una base funcional, segura y preparada para evolucionar.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852928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761488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Frontend conectado a una API REST real.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46704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3255264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Persistencia central en MariaDB.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3840479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3749039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Paneles separados para tres roles.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334256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242816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JWT, BCrypt y permisos por endpoint.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828031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4736592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34 pruebas automatizadas aprobadas.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1051560"/>
            <a:ext cx="4754880" cy="4828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14032" y="1508760"/>
            <a:ext cx="39136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D4A900"/>
                </a:solidFill>
                <a:latin typeface="Aptos"/>
              </a:defRPr>
            </a:pPr>
            <a:r>
              <a:t>PRÓXIMOS PASOS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0" y="2194560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60920" y="2103120"/>
            <a:ext cx="35204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06172E"/>
                </a:solidFill>
                <a:latin typeface="Aptos"/>
              </a:defRPr>
            </a:pPr>
            <a:r>
              <a:t>Migrar el frontend a Angular.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0" y="2761488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2670048"/>
            <a:ext cx="35204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06172E"/>
                </a:solidFill>
                <a:latin typeface="Aptos"/>
              </a:defRPr>
            </a:pPr>
            <a:r>
              <a:t>Incorporar validaciones y componentes reutilizables.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0" y="3328416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3236976"/>
            <a:ext cx="35204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06172E"/>
                </a:solidFill>
                <a:latin typeface="Aptos"/>
              </a:defRPr>
            </a:pPr>
            <a:r>
              <a:t>Reforzar seguridad para producción con HTTPS.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0" y="3895344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0920" y="3803904"/>
            <a:ext cx="35204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06172E"/>
                </a:solidFill>
                <a:latin typeface="Aptos"/>
              </a:defRPr>
            </a:pPr>
            <a:r>
              <a:t>Desplegar frontend, API y base de datos en la nube.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4773168"/>
            <a:ext cx="3474720" cy="4572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5047488"/>
            <a:ext cx="3749039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06172E"/>
                </a:solidFill>
                <a:latin typeface="Aptos"/>
              </a:defRPr>
            </a:pPr>
            <a:r>
              <a:t>Gracias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486400"/>
            <a:ext cx="37490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60708A"/>
                </a:solidFill>
                <a:latin typeface="Aptos"/>
              </a:defRPr>
            </a:pPr>
            <a:r>
              <a:t>¿Preguntas?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92256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1332</Words>
  <Application>Microsoft Office PowerPoint</Application>
  <PresentationFormat>Panorámica</PresentationFormat>
  <Paragraphs>233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kelvin acevedo</cp:lastModifiedBy>
  <cp:revision>2</cp:revision>
  <dcterms:created xsi:type="dcterms:W3CDTF">2013-01-27T09:14:16Z</dcterms:created>
  <dcterms:modified xsi:type="dcterms:W3CDTF">2026-09-03T20:12:03Z</dcterms:modified>
  <cp:category/>
</cp:coreProperties>
</file>