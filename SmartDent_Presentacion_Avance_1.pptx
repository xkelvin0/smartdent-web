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ro-nosotros.png"/>
          <p:cNvPicPr>
            <a:picLocks noChangeAspect="1"/>
          </p:cNvPicPr>
          <p:nvPr/>
        </p:nvPicPr>
        <p:blipFill>
          <a:blip r:embed="rId2"/>
          <a:srcRect l="32216" r="32216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30568" y="0"/>
            <a:ext cx="109728" cy="6858000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smart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2423160" cy="565404"/>
          </a:xfrm>
          <a:prstGeom prst="rect">
            <a:avLst/>
          </a:prstGeom>
        </p:spPr>
      </p:pic>
      <p:pic>
        <p:nvPicPr>
          <p:cNvPr id="6" name="Picture 5" descr="logo-u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30352"/>
            <a:ext cx="841248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1847088"/>
            <a:ext cx="5394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8DE7E"/>
                </a:solidFill>
                <a:latin typeface="Aptos"/>
              </a:defRPr>
            </a:pPr>
            <a:r>
              <a:t>SISTEMA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562356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3800" b="1">
                <a:solidFill>
                  <a:srgbClr val="FFFFFF"/>
                </a:solidFill>
                <a:latin typeface="Aptos"/>
              </a:defRPr>
            </a:pPr>
            <a:r>
              <a:t>SmartDent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44952"/>
            <a:ext cx="541324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2000" b="0">
                <a:solidFill>
                  <a:srgbClr val="C5D7EB"/>
                </a:solidFill>
                <a:latin typeface="Aptos"/>
              </a:defRPr>
            </a:pPr>
            <a:r>
              <a:t>Gestión inteligente de citas y atenciones odontológicas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4160520"/>
            <a:ext cx="1143000" cy="6400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4407408"/>
            <a:ext cx="49377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Avance 1 · Desarrollo Web Integrado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800600"/>
            <a:ext cx="4937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9FB4CC"/>
                </a:solidFill>
                <a:latin typeface="Aptos"/>
              </a:defRPr>
            </a:pPr>
            <a:r>
              <a:t>Universidad Tecnológica del Perú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394960"/>
            <a:ext cx="5212080" cy="8669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2000"/>
              </a:lnSpc>
              <a:defRPr sz="860" b="0">
                <a:solidFill>
                  <a:srgbClr val="9FB4CC"/>
                </a:solidFill>
                <a:latin typeface="Aptos"/>
              </a:defRPr>
            </a:pPr>
            <a:r>
              <a:rPr sz="1400" dirty="0"/>
              <a:t>Acevedo Huarachi Kelvin Jesus · U23309803</a:t>
            </a:r>
            <a:br>
              <a:rPr sz="1400" dirty="0"/>
            </a:br>
            <a:r>
              <a:rPr sz="1400" dirty="0" err="1"/>
              <a:t>Añorga</a:t>
            </a:r>
            <a:r>
              <a:rPr sz="1400" dirty="0"/>
              <a:t> </a:t>
            </a:r>
            <a:r>
              <a:rPr sz="1400" dirty="0" err="1"/>
              <a:t>Pinedo</a:t>
            </a:r>
            <a:r>
              <a:rPr sz="1400" dirty="0"/>
              <a:t> Paolo Alexander · U23305864</a:t>
            </a:r>
            <a:br>
              <a:rPr sz="1400" dirty="0"/>
            </a:br>
            <a:r>
              <a:rPr sz="1400" dirty="0"/>
              <a:t>Calle Paredes </a:t>
            </a:r>
            <a:r>
              <a:rPr sz="1400" dirty="0" err="1"/>
              <a:t>Maykol</a:t>
            </a:r>
            <a:r>
              <a:rPr sz="1400" dirty="0"/>
              <a:t> Adan · U23242558</a:t>
            </a:r>
            <a:br>
              <a:rPr sz="1400" dirty="0"/>
            </a:br>
            <a:r>
              <a:rPr sz="1400" dirty="0"/>
              <a:t>Salinas Perez Joseph Sebastian · U23325202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Tecnologías implementadas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Stack utilizado en el prototipo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993392"/>
            <a:ext cx="621792" cy="621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Estructura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993392"/>
            <a:ext cx="621792" cy="6217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44368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Estilos globales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ailwind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1993392"/>
            <a:ext cx="621792" cy="6217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12080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Componentes visuales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3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javascr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5" y="1993392"/>
            <a:ext cx="621792" cy="6217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9791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1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Interacción y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7776" y="1828800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jav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288" y="1993392"/>
            <a:ext cx="621792" cy="6217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47503" y="2688336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Java 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3" y="2999232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Lenguaje 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pr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" y="3931920"/>
            <a:ext cx="621792" cy="6217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6656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API REST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hibern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2152" y="3931920"/>
            <a:ext cx="621792" cy="6217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44368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JPA / Hibernate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Persistencia 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02352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mariad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864" y="3931920"/>
            <a:ext cx="621792" cy="6217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12080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MariaDB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Base de datos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70063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jun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7575" y="3931920"/>
            <a:ext cx="621792" cy="6217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79791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JUnit 5 + Mockito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1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Pruebas unitarias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37776" y="3767328"/>
            <a:ext cx="195681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swagg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5288" y="3931920"/>
            <a:ext cx="621792" cy="6217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47503" y="4626864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06172E"/>
                </a:solidFill>
                <a:latin typeface="Aptos"/>
              </a:defRPr>
            </a:pPr>
            <a:r>
              <a:t>Swagger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7503" y="493776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60708A"/>
                </a:solidFill>
                <a:latin typeface="Aptos"/>
              </a:defRPr>
            </a:pPr>
            <a:r>
              <a:t>Documentación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806440"/>
            <a:ext cx="11064240" cy="438912"/>
          </a:xfrm>
          <a:prstGeom prst="roundRect">
            <a:avLst/>
          </a:prstGeom>
          <a:solidFill>
            <a:srgbClr val="E9FBFD"/>
          </a:solidFill>
          <a:ln>
            <a:solidFill>
              <a:srgbClr val="B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5907024"/>
            <a:ext cx="10561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06172E"/>
                </a:solidFill>
                <a:latin typeface="Aptos"/>
              </a:defRPr>
            </a:pPr>
            <a:r>
              <a:t>Seguridad transversal: Spring Security + JWT + BCrypt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"/>
              </a:defRPr>
            </a:pPr>
            <a:r>
              <a:t>El problema que resolvemos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B"/>
                </a:solidFill>
                <a:latin typeface="Aptos"/>
              </a:defRPr>
            </a:pPr>
            <a:r>
              <a:t>La gestión manual limita el crecimiento de la clínica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11D8E5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8" name="Picture 7" descr="consulta-diagnostico.png"/>
          <p:cNvPicPr>
            <a:picLocks noChangeAspect="1"/>
          </p:cNvPicPr>
          <p:nvPr/>
        </p:nvPicPr>
        <p:blipFill>
          <a:blip r:embed="rId3"/>
          <a:srcRect l="11229" r="11229"/>
          <a:stretch>
            <a:fillRect/>
          </a:stretch>
        </p:blipFill>
        <p:spPr>
          <a:xfrm>
            <a:off x="7150608" y="1719072"/>
            <a:ext cx="4462272" cy="43159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50608" y="5742432"/>
            <a:ext cx="4462272" cy="29260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806440" cy="1005840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73152" cy="1005840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5349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01  Cruces de horarios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68880"/>
            <a:ext cx="5349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Reservas coordinadas por llamadas, cuadernos o mensajes generan duplicidad.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44952"/>
            <a:ext cx="5806440" cy="1005840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044952"/>
            <a:ext cx="73152" cy="10058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246120"/>
            <a:ext cx="5349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02  Información dispersa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85032"/>
            <a:ext cx="5349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Los datos del paciente y sus atenciones quedan sin una trazabilidad central.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61104"/>
            <a:ext cx="5806440" cy="1005840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261104"/>
            <a:ext cx="73152" cy="1005840"/>
          </a:xfrm>
          <a:prstGeom prst="rect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462272"/>
            <a:ext cx="5349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03  Poco control operativo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901184"/>
            <a:ext cx="5349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Es difícil supervisar agendas, servicios, ingresos y rendimiento de la clínica.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Solución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Una plataforma central para pacientes, odontólogos y administración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83080"/>
            <a:ext cx="3657600" cy="4160520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971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8DE7E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97180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defRPr sz="2100" b="1">
                <a:solidFill>
                  <a:srgbClr val="FFFFFF"/>
                </a:solidFill>
                <a:latin typeface="Aptos"/>
              </a:defRPr>
            </a:pPr>
            <a:r>
              <a:t>Desarrollar un sistema web integrado que gestione de forma segura y eficiente los procesos odontológicos.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945" y="4628093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D8E5"/>
                </a:solidFill>
                <a:latin typeface="Aptos"/>
              </a:defRPr>
            </a:pP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32688" y="4980925"/>
            <a:ext cx="28803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C6D8EB"/>
                </a:solidFill>
                <a:latin typeface="Aptos"/>
              </a:defRPr>
            </a:pP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,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trazabilidad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rol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1847088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45152" y="1847088"/>
            <a:ext cx="73152" cy="1627632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1184" y="2048256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API RESTful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487168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Servicios organizados y documentados.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847088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847088"/>
            <a:ext cx="73152" cy="1627632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7" y="2048256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487168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Datos reales mediante JPA y MariaDB.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840480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45152" y="3840480"/>
            <a:ext cx="73152" cy="1627632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184" y="4041648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480560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Autenticación JWT y permisos por 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840480"/>
            <a:ext cx="31089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83296" y="3840480"/>
            <a:ext cx="73152" cy="1627632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7" y="4041648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Integración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480560"/>
            <a:ext cx="265176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Frontend conectado a la API del backend.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Arquitectura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Separación por capas para mantener responsabilidades claras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40864"/>
            <a:ext cx="1847088" cy="10972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D8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HTML · Tailwind CSS · JavaScript</a:t>
            </a:r>
          </a:p>
        </p:txBody>
      </p:sp>
      <p:sp>
        <p:nvSpPr>
          <p:cNvPr id="13" name="Chevron 12"/>
          <p:cNvSpPr/>
          <p:nvPr/>
        </p:nvSpPr>
        <p:spPr>
          <a:xfrm>
            <a:off x="2660904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35808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35808" y="2340864"/>
            <a:ext cx="1847088" cy="10972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4A9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API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Controladores + DTO + validaciones</a:t>
            </a:r>
          </a:p>
        </p:txBody>
      </p:sp>
      <p:sp>
        <p:nvSpPr>
          <p:cNvPr id="19" name="Chevron 18"/>
          <p:cNvSpPr/>
          <p:nvPr/>
        </p:nvSpPr>
        <p:spPr>
          <a:xfrm>
            <a:off x="4919472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94376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94376" y="2340864"/>
            <a:ext cx="1847088" cy="109728"/>
          </a:xfrm>
          <a:prstGeom prst="rect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58968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B7BE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NEGOCIO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Servicios + reglas + seguridad JWT</a:t>
            </a:r>
          </a:p>
        </p:txBody>
      </p:sp>
      <p:sp>
        <p:nvSpPr>
          <p:cNvPr id="25" name="Chevron 24"/>
          <p:cNvSpPr/>
          <p:nvPr/>
        </p:nvSpPr>
        <p:spPr>
          <a:xfrm>
            <a:off x="7178040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52944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52944" y="2340864"/>
            <a:ext cx="1847088" cy="109728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17536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9B59B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Spring Data JPA · Hibernate</a:t>
            </a:r>
          </a:p>
        </p:txBody>
      </p:sp>
      <p:sp>
        <p:nvSpPr>
          <p:cNvPr id="31" name="Chevron 30"/>
          <p:cNvSpPr/>
          <p:nvPr/>
        </p:nvSpPr>
        <p:spPr>
          <a:xfrm>
            <a:off x="9436608" y="3118104"/>
            <a:ext cx="329184" cy="420624"/>
          </a:xfrm>
          <a:prstGeom prst="chevron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11512" y="2340864"/>
            <a:ext cx="1847088" cy="2048256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11512" y="2340864"/>
            <a:ext cx="1847088" cy="10972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76104" y="2615184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9875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3017520"/>
            <a:ext cx="15179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4" y="3493008"/>
            <a:ext cx="151790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MariaDB · smartdent_db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47672" y="5010912"/>
            <a:ext cx="8275320" cy="658368"/>
          </a:xfrm>
          <a:prstGeom prst="roundRect">
            <a:avLst/>
          </a:prstGeom>
          <a:solidFill>
            <a:srgbClr val="EAFBFD"/>
          </a:solidFill>
          <a:ln>
            <a:solidFill>
              <a:srgbClr val="B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48840" y="5221224"/>
            <a:ext cx="7882127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6172E"/>
                </a:solidFill>
                <a:latin typeface="Aptos"/>
              </a:defRPr>
            </a:pPr>
            <a:r>
              <a:t>Flujo principal: navegador → HTTP/JSON → Controller → Service → Repository → MariaDB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Tres roles, una sola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Cada usuario accede únicamente a las funciones que necesita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828800"/>
            <a:ext cx="345643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11095" y="2157984"/>
            <a:ext cx="841248" cy="84124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11095" y="2304288"/>
            <a:ext cx="8412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27832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PACIENTE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913631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822191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Reserva y reprograma citas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443983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352544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Consulta historial clínico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974336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882896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Configura recordatorios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1828800"/>
            <a:ext cx="345643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51576" y="2157984"/>
            <a:ext cx="841248" cy="84124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51576" y="2304288"/>
            <a:ext cx="8412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227832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ODONTÓLOGO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3913631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3822191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Gestiona su agenda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4443983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352544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Registra diagnóstico y tratamiento</a:t>
            </a:r>
          </a:p>
        </p:txBody>
      </p:sp>
      <p:sp>
        <p:nvSpPr>
          <p:cNvPr id="26" name="Oval 25"/>
          <p:cNvSpPr/>
          <p:nvPr/>
        </p:nvSpPr>
        <p:spPr>
          <a:xfrm>
            <a:off x="4800600" y="4974336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4882896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Bloquea horarios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3608" y="1828800"/>
            <a:ext cx="3456432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92056" y="2157984"/>
            <a:ext cx="841248" cy="84124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92056" y="2304288"/>
            <a:ext cx="84124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227832"/>
            <a:ext cx="2907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3913631"/>
            <a:ext cx="109728" cy="10972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822191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Supervisa la agenda global</a:t>
            </a:r>
          </a:p>
        </p:txBody>
      </p:sp>
      <p:sp>
        <p:nvSpPr>
          <p:cNvPr id="34" name="Oval 33"/>
          <p:cNvSpPr/>
          <p:nvPr/>
        </p:nvSpPr>
        <p:spPr>
          <a:xfrm>
            <a:off x="8641080" y="4443983"/>
            <a:ext cx="109728" cy="10972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0" y="4352544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Gestiona profesionales y tarifas</a:t>
            </a:r>
          </a:p>
        </p:txBody>
      </p:sp>
      <p:sp>
        <p:nvSpPr>
          <p:cNvPr id="36" name="Oval 35"/>
          <p:cNvSpPr/>
          <p:nvPr/>
        </p:nvSpPr>
        <p:spPr>
          <a:xfrm>
            <a:off x="8641080" y="4974336"/>
            <a:ext cx="109728" cy="109728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4882896"/>
            <a:ext cx="253288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Analiza reportes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Flujo principal: reservar una cita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Proceso completo y trazable desde el catálogo hasta la atención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1216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Servicio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El paciente elige el tratamiento.</a:t>
            </a:r>
          </a:p>
        </p:txBody>
      </p:sp>
      <p:sp>
        <p:nvSpPr>
          <p:cNvPr id="13" name="Oval 12"/>
          <p:cNvSpPr/>
          <p:nvPr/>
        </p:nvSpPr>
        <p:spPr>
          <a:xfrm>
            <a:off x="3502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7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Profesional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Selecciona un odontólogo disponible.</a:t>
            </a:r>
          </a:p>
        </p:txBody>
      </p:sp>
      <p:sp>
        <p:nvSpPr>
          <p:cNvPr id="18" name="Oval 17"/>
          <p:cNvSpPr/>
          <p:nvPr/>
        </p:nvSpPr>
        <p:spPr>
          <a:xfrm>
            <a:off x="5788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8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93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Fecha y hora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La API valida cruces y bloqueos.</a:t>
            </a:r>
          </a:p>
        </p:txBody>
      </p:sp>
      <p:sp>
        <p:nvSpPr>
          <p:cNvPr id="23" name="Oval 22"/>
          <p:cNvSpPr/>
          <p:nvPr/>
        </p:nvSpPr>
        <p:spPr>
          <a:xfrm>
            <a:off x="8074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74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14816" y="2276856"/>
            <a:ext cx="1545336" cy="9144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Confirmación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La cita queda en estado pendiente.</a:t>
            </a:r>
          </a:p>
        </p:txBody>
      </p:sp>
      <p:sp>
        <p:nvSpPr>
          <p:cNvPr id="28" name="Oval 27"/>
          <p:cNvSpPr/>
          <p:nvPr/>
        </p:nvSpPr>
        <p:spPr>
          <a:xfrm>
            <a:off x="10360152" y="1956816"/>
            <a:ext cx="749808" cy="749808"/>
          </a:xfrm>
          <a:prstGeom prst="ellipse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60152" y="2112264"/>
            <a:ext cx="74980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999232"/>
            <a:ext cx="19751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06172E"/>
                </a:solidFill>
                <a:latin typeface="Aptos"/>
              </a:defRPr>
            </a:pPr>
            <a:r>
              <a:t>Atención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474720"/>
            <a:ext cx="197510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60708A"/>
                </a:solidFill>
                <a:latin typeface="Aptos"/>
              </a:defRPr>
            </a:pPr>
            <a:r>
              <a:t>El odontólogo registra la historia clínica.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" y="4892040"/>
            <a:ext cx="10058400" cy="786384"/>
          </a:xfrm>
          <a:prstGeom prst="roundRect">
            <a:avLst/>
          </a:prstGeom>
          <a:solidFill>
            <a:srgbClr val="FFF9DF"/>
          </a:solidFill>
          <a:ln>
            <a:solidFill>
              <a:srgbClr val="E9D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35024" y="5138928"/>
            <a:ext cx="9509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6172E"/>
                </a:solidFill>
                <a:latin typeface="Aptos"/>
              </a:defRPr>
            </a:pPr>
            <a:r>
              <a:t>Regla clave: un horario reservado o bloqueado desaparece de la disponibilidad y no puede duplicarse.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"/>
              </a:defRPr>
            </a:pPr>
            <a:r>
              <a:t>Persistencia y modelo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B"/>
                </a:solidFill>
                <a:latin typeface="Aptos"/>
              </a:defRPr>
            </a:pPr>
            <a:r>
              <a:t>Los datos de negocio se almacenan en MariaDB, no en el 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11D8E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6537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65376"/>
            <a:ext cx="73152" cy="1243584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6654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roles · configuración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186537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3" y="1865376"/>
            <a:ext cx="73152" cy="1243584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206654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ODONTÓLOGOS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50545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servicios asignados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6537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865376"/>
            <a:ext cx="73152" cy="1243584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06654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CITAS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50545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estado · fecha · precio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1985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419856"/>
            <a:ext cx="73152" cy="1243584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62102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HISTORIAS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5993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diagnóstico · tratamiento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3983" y="341985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43983" y="3419856"/>
            <a:ext cx="73152" cy="1243584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362102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05993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tarifa · costo · duración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419856"/>
            <a:ext cx="3401568" cy="124358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419856"/>
            <a:ext cx="73152" cy="1243584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3621024"/>
            <a:ext cx="29443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REPORTES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059936"/>
            <a:ext cx="294436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C1D0E4"/>
                </a:solidFill>
                <a:latin typeface="Aptos"/>
              </a:defRPr>
            </a:pPr>
            <a:r>
              <a:t>costos fijos · indicadores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98448" y="5175504"/>
            <a:ext cx="9601200" cy="676656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5385816"/>
            <a:ext cx="90525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11D8E5"/>
                </a:solidFill>
                <a:latin typeface="Aptos"/>
              </a:rPr>
              <a:t>Navegador: </a:t>
            </a:r>
            <a:r>
              <a:rPr sz="1150" b="0">
                <a:solidFill>
                  <a:srgbClr val="FFFFFF"/>
                </a:solidFill>
                <a:latin typeface="Aptos"/>
              </a:rPr>
              <a:t>solo JWT y navegación temporal   </a:t>
            </a:r>
            <a:r>
              <a:rPr sz="1150" b="1">
                <a:solidFill>
                  <a:srgbClr val="F8DE7E"/>
                </a:solidFill>
                <a:latin typeface="Aptos"/>
              </a:rPr>
              <a:t>Base de datos: </a:t>
            </a:r>
            <a:r>
              <a:rPr sz="1150" b="0">
                <a:solidFill>
                  <a:srgbClr val="FFFFFF"/>
                </a:solidFill>
                <a:latin typeface="Aptos"/>
              </a:rPr>
              <a:t>usuarios, citas, historias, servicios y reportes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API REST, documentación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Endpoints organizados por contexto y protegidos según el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810512"/>
            <a:ext cx="73152" cy="1600200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/api/auth · /api/servicios</a:t>
            </a:r>
            <a:br/>
            <a:r>
              <a:t>/api/odontologos · /api/contacto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65576" y="1810512"/>
            <a:ext cx="73152" cy="160020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/api/pacientes/citas</a:t>
            </a:r>
            <a:br/>
            <a:r>
              <a:t>/historias-clinicas · configuración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1810512"/>
            <a:ext cx="73152" cy="1600200"/>
          </a:xfrm>
          <a:prstGeom prst="rect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ODONTÓLOGO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/api/odontologos/mi-agenda</a:t>
            </a:r>
            <a:br/>
            <a:r>
              <a:t>/citas · historias · bloqueos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810512"/>
            <a:ext cx="252374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53144" y="1810512"/>
            <a:ext cx="73152" cy="160020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9176" y="2011680"/>
            <a:ext cx="2066543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450591"/>
            <a:ext cx="2066543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/api/admin/citas · usuarios</a:t>
            </a:r>
            <a:br/>
            <a:r>
              <a:t>servicios · reportes · mensajes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58768"/>
            <a:ext cx="192024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6172E"/>
                </a:solidFill>
                <a:latin typeface="Aptos"/>
              </a:defRPr>
            </a:pPr>
            <a:r>
              <a:t>Autenticación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416552"/>
            <a:ext cx="2212848" cy="713232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Correo + contraseña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590288"/>
            <a:ext cx="329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D4A9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4416552"/>
            <a:ext cx="2212848" cy="713232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57016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BCrypt verifica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76" y="4590288"/>
            <a:ext cx="329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D4A9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4416552"/>
            <a:ext cx="2212848" cy="713232"/>
          </a:xfrm>
          <a:prstGeom prst="round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JWT firmado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590288"/>
            <a:ext cx="329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D4A9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4416552"/>
            <a:ext cx="2212848" cy="713232"/>
          </a:xfrm>
          <a:prstGeom prst="round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16568" y="4626864"/>
            <a:ext cx="19933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Permiso por 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577840"/>
            <a:ext cx="5285232" cy="493776"/>
          </a:xfrm>
          <a:prstGeom prst="roundRect">
            <a:avLst/>
          </a:prstGeom>
          <a:solidFill>
            <a:srgbClr val="EAFBFD"/>
          </a:solidFill>
          <a:ln>
            <a:solidFill>
              <a:srgbClr val="B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39312" y="5715000"/>
            <a:ext cx="491947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80" b="1">
                <a:solidFill>
                  <a:srgbClr val="06172E"/>
                </a:solidFill>
                <a:latin typeface="Aptos"/>
              </a:defRPr>
            </a:pPr>
            <a:r>
              <a:t>Swagger UI: http://localhost:8080/swagger-ui.html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ptos"/>
              </a:defRPr>
            </a:pPr>
            <a:r>
              <a:t>TDD y estrategia de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AFC3DB"/>
                </a:solidFill>
                <a:latin typeface="Aptos"/>
              </a:defRPr>
            </a:pPr>
            <a:r>
              <a:t>Retroalimentación continua: rojo, verde y refactorización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11D8E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75104"/>
            <a:ext cx="2057400" cy="2057400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600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26080"/>
            <a:ext cx="15636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FFFFFF"/>
                </a:solidFill>
                <a:latin typeface="Aptos"/>
              </a:defRPr>
            </a:pPr>
            <a:r>
              <a:t>Escribir una prueba que falle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770632"/>
            <a:ext cx="4206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8DE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520440" y="1975104"/>
            <a:ext cx="2057400" cy="2057400"/>
          </a:xfrm>
          <a:prstGeom prst="ellipse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2487168"/>
            <a:ext cx="1600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VERDE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926080"/>
            <a:ext cx="15636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FFFFFF"/>
                </a:solidFill>
                <a:latin typeface="Aptos"/>
              </a:defRPr>
            </a:pPr>
            <a:r>
              <a:t>Implementar lo mínimo para aprobar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2770632"/>
            <a:ext cx="4206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8DE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975104"/>
            <a:ext cx="2057400" cy="2057400"/>
          </a:xfrm>
          <a:prstGeom prst="ellipse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487168"/>
            <a:ext cx="1600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Aptos"/>
              </a:defRPr>
            </a:pPr>
            <a:r>
              <a:t>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926080"/>
            <a:ext cx="1563624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FFFFFF"/>
                </a:solidFill>
                <a:latin typeface="Aptos"/>
              </a:defRPr>
            </a:pPr>
            <a:r>
              <a:t>Mejorar sin cambiar el resultado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783080"/>
            <a:ext cx="20116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64624" y="2112264"/>
            <a:ext cx="1810512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06172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907792"/>
            <a:ext cx="1591056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198754"/>
                </a:solidFill>
                <a:latin typeface="Aptos"/>
              </a:defRPr>
            </a:pPr>
            <a:r>
              <a:t>PRUEBAS</a:t>
            </a:r>
            <a:br/>
            <a:r>
              <a:t>APROBADAS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3886200"/>
            <a:ext cx="16824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60708A"/>
                </a:solidFill>
                <a:latin typeface="Aptos"/>
              </a:defRPr>
            </a:pPr>
            <a:r>
              <a:t>0 fallos · 0 errores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901184"/>
            <a:ext cx="10771632" cy="877824"/>
          </a:xfrm>
          <a:prstGeom prst="roundRect">
            <a:avLst/>
          </a:prstGeom>
          <a:solidFill>
            <a:srgbClr val="0B2447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5193792"/>
            <a:ext cx="101864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170" b="1">
                <a:solidFill>
                  <a:srgbClr val="D7E6F7"/>
                </a:solidFill>
                <a:latin typeface="Aptos"/>
              </a:defRPr>
            </a:pPr>
            <a:r>
              <a:t>Cobertura unitaria: registro · autenticación · CRUD de servicios · reservas y reglas de citas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Prueba clave 01 · Servicio de autenticación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Comprueba que el login autentique al usuario y devuelva su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7726679" cy="4407408"/>
          </a:xfrm>
          <a:prstGeom prst="roundRect">
            <a:avLst/>
          </a:prstGeom>
          <a:solidFill>
            <a:srgbClr val="07111F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947672"/>
            <a:ext cx="100584" cy="100584"/>
          </a:xfrm>
          <a:prstGeom prst="ellipse">
            <a:avLst/>
          </a:prstGeom>
          <a:solidFill>
            <a:srgbClr val="FF5F57"/>
          </a:solidFill>
          <a:ln>
            <a:solidFill>
              <a:srgbClr val="FF5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47672"/>
            <a:ext cx="100584" cy="100584"/>
          </a:xfrm>
          <a:prstGeom prst="ellipse">
            <a:avLst/>
          </a:prstGeom>
          <a:solidFill>
            <a:srgbClr val="FEBC2E"/>
          </a:solidFill>
          <a:ln>
            <a:solidFill>
              <a:srgbClr val="FE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47672"/>
            <a:ext cx="100584" cy="100584"/>
          </a:xfrm>
          <a:prstGeom prst="ellipse">
            <a:avLst/>
          </a:prstGeom>
          <a:solidFill>
            <a:srgbClr val="28C840"/>
          </a:solidFill>
          <a:ln>
            <a:solidFill>
              <a:srgbClr val="2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40280"/>
            <a:ext cx="7324344" cy="3813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88000"/>
              </a:lnSpc>
              <a:defRPr sz="1019" b="0">
                <a:solidFill>
                  <a:srgbClr val="D7E6F7"/>
                </a:solidFill>
                <a:latin typeface="Consolas"/>
              </a:defRPr>
            </a:pPr>
            <a:r>
              <a:t>@Test</a:t>
            </a:r>
            <a:br/>
            <a:r>
              <a:t>void iniciaSesionYDevuelveTokenJwt() {</a:t>
            </a:r>
            <a:br/>
            <a:r>
              <a:t>    Usuario usuario = usuarioActivo("paciente@correo.com");</a:t>
            </a:r>
            <a:br/>
            <a:r>
              <a:t>    when(usuarioRepository.findByEmailIgnoreCase(</a:t>
            </a:r>
            <a:br/>
            <a:r>
              <a:t>        "paciente@correo.com")).thenReturn(Optional.of(usuario));</a:t>
            </a:r>
            <a:br/>
            <a:r>
              <a:t>    when(jwtService.generarToken(usuario)).thenReturn("jwt-prueba");</a:t>
            </a:r>
            <a:br/>
            <a:br/>
            <a:r>
              <a:t>    var response = service.iniciarSesion(</a:t>
            </a:r>
            <a:br/>
            <a:r>
              <a:t>        new LoginRequest(" PACIENTE@CORREO.COM ", "Clave1234"));</a:t>
            </a:r>
            <a:br/>
            <a:br/>
            <a:r>
              <a:t>    verify(authenticationManager).authenticate(any(</a:t>
            </a:r>
            <a:br/>
            <a:r>
              <a:t>        UsernamePasswordAuthenticationToken.class));</a:t>
            </a:r>
            <a:br/>
            <a:r>
              <a:t>    assertThat(response.token()).isEqualTo("jwt-prueba");</a:t>
            </a:r>
            <a:br/>
            <a:r>
              <a:t>    assertThat(response.tokenType()).isEqualTo("Bearer");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83080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7072" y="1783080"/>
            <a:ext cx="73152" cy="111556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98424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AUTENTICACIÓN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423160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Verifica que se invoque AuthenticationManager.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127248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3127248"/>
            <a:ext cx="73152" cy="111556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328416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AISLAMIENTO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767328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Repositorio y servicio JWT se reemplazan por mocks.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471416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77072" y="4471416"/>
            <a:ext cx="73152" cy="111556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72583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5111496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Devuelve el token con el tipo Bearer esperado.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5870448"/>
            <a:ext cx="277063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60708A"/>
                </a:solidFill>
                <a:latin typeface="Aptos"/>
              </a:defRPr>
            </a:pPr>
            <a:r>
              <a:t>LoginServiceUnitTest.java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Prueba clave 02 · Sesiones sin doble cobro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Comprueba una regla central del tratamiento odontológico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7726679" cy="4407408"/>
          </a:xfrm>
          <a:prstGeom prst="roundRect">
            <a:avLst/>
          </a:prstGeom>
          <a:solidFill>
            <a:srgbClr val="07111F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947672"/>
            <a:ext cx="100584" cy="100584"/>
          </a:xfrm>
          <a:prstGeom prst="ellipse">
            <a:avLst/>
          </a:prstGeom>
          <a:solidFill>
            <a:srgbClr val="FF5F57"/>
          </a:solidFill>
          <a:ln>
            <a:solidFill>
              <a:srgbClr val="FF5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47672"/>
            <a:ext cx="100584" cy="100584"/>
          </a:xfrm>
          <a:prstGeom prst="ellipse">
            <a:avLst/>
          </a:prstGeom>
          <a:solidFill>
            <a:srgbClr val="FEBC2E"/>
          </a:solidFill>
          <a:ln>
            <a:solidFill>
              <a:srgbClr val="FE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47672"/>
            <a:ext cx="100584" cy="100584"/>
          </a:xfrm>
          <a:prstGeom prst="ellipse">
            <a:avLst/>
          </a:prstGeom>
          <a:solidFill>
            <a:srgbClr val="28C840"/>
          </a:solidFill>
          <a:ln>
            <a:solidFill>
              <a:srgbClr val="2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40280"/>
            <a:ext cx="7324344" cy="3813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88000"/>
              </a:lnSpc>
              <a:defRPr sz="1019" b="0">
                <a:solidFill>
                  <a:srgbClr val="D7E6F7"/>
                </a:solidFill>
                <a:latin typeface="Consolas"/>
              </a:defRPr>
            </a:pPr>
            <a:r>
              <a:t>@Test</a:t>
            </a:r>
            <a:br/>
            <a:r>
              <a:t>void segundaSesionDelMismoTratamientoNoVuelveACobrar() {</a:t>
            </a:r>
            <a:br/>
            <a:r>
              <a:t>    Cita anterior = new Cita();</a:t>
            </a:r>
            <a:br/>
            <a:r>
              <a:t>    anterior.setEstado(CitaEstado.ATENDIDA);</a:t>
            </a:r>
            <a:br/>
            <a:r>
              <a:t>    anterior.setTratamientoCodigo("TRA-PRUEBA");</a:t>
            </a:r>
            <a:br/>
            <a:r>
              <a:t>    anterior.setNumeroSesion(1);</a:t>
            </a:r>
            <a:br/>
            <a:r>
              <a:t>    anterior.setTotalSesiones(4);</a:t>
            </a:r>
            <a:br/>
            <a:r>
              <a:t>    when(citaRepository</a:t>
            </a:r>
            <a:br/>
            <a:r>
              <a:t>        .findByPaciente_IdAndServicio_IdOrderByCreadoEnDesc(1L, 3L))</a:t>
            </a:r>
            <a:br/>
            <a:r>
              <a:t>        .thenReturn(List.of(anterior));</a:t>
            </a:r>
            <a:br/>
            <a:br/>
            <a:r>
              <a:t>    var cita = service.reservar("paciente@correo.com",</a:t>
            </a:r>
            <a:br/>
            <a:r>
              <a:t>        request(fechaHabil(3), LocalTime.of(9, 0)));</a:t>
            </a:r>
            <a:br/>
            <a:br/>
            <a:r>
              <a:t>    assertThat(cita.numeroSesion()).isEqualTo(2);</a:t>
            </a:r>
            <a:br/>
            <a:r>
              <a:t>    assertThat(cita.sesionesRestantes()).isEqualTo(2);</a:t>
            </a:r>
            <a:br/>
            <a:r>
              <a:t>    assertThat(cita.precioPactado()).isZero();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83080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7072" y="1783080"/>
            <a:ext cx="73152" cy="111556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98424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423160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 siguiente reserva continúa el tratamiento.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127248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3127248"/>
            <a:ext cx="73152" cy="111556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328416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SALDO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767328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Las sesiones restantes se actualizan.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471416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77072" y="4471416"/>
            <a:ext cx="73152" cy="111556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72583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COBRO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5111496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La segunda sesión tiene precio cero.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833872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869" b="0">
                <a:solidFill>
                  <a:srgbClr val="60708A"/>
                </a:solidFill>
                <a:latin typeface="Aptos"/>
              </a:defRPr>
            </a:pPr>
            <a:r>
              <a:t>CitaServiceUnitTest.java · prueba aislada con Mockito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874519" cy="437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786384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06172E"/>
                </a:solidFill>
                <a:latin typeface="Aptos"/>
              </a:defRPr>
            </a:pPr>
            <a:r>
              <a:t>Prueba clave 03 · CRUD de 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10607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60708A"/>
                </a:solidFill>
                <a:latin typeface="Aptos"/>
              </a:defRPr>
            </a:pPr>
            <a:r>
              <a:t>Valida la creación y normalización sin conectarse a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237744"/>
            <a:ext cx="475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D4A90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7726679" cy="4407408"/>
          </a:xfrm>
          <a:prstGeom prst="roundRect">
            <a:avLst/>
          </a:prstGeom>
          <a:solidFill>
            <a:srgbClr val="07111F"/>
          </a:solidFill>
          <a:ln>
            <a:solidFill>
              <a:srgbClr val="24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947672"/>
            <a:ext cx="100584" cy="100584"/>
          </a:xfrm>
          <a:prstGeom prst="ellipse">
            <a:avLst/>
          </a:prstGeom>
          <a:solidFill>
            <a:srgbClr val="FF5F57"/>
          </a:solidFill>
          <a:ln>
            <a:solidFill>
              <a:srgbClr val="FF5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47672"/>
            <a:ext cx="100584" cy="100584"/>
          </a:xfrm>
          <a:prstGeom prst="ellipse">
            <a:avLst/>
          </a:prstGeom>
          <a:solidFill>
            <a:srgbClr val="FEBC2E"/>
          </a:solidFill>
          <a:ln>
            <a:solidFill>
              <a:srgbClr val="FE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1947672"/>
            <a:ext cx="100584" cy="100584"/>
          </a:xfrm>
          <a:prstGeom prst="ellipse">
            <a:avLst/>
          </a:prstGeom>
          <a:solidFill>
            <a:srgbClr val="28C840"/>
          </a:solidFill>
          <a:ln>
            <a:solidFill>
              <a:srgbClr val="28C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40280"/>
            <a:ext cx="7324344" cy="3813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88000"/>
              </a:lnSpc>
              <a:defRPr sz="1019" b="0">
                <a:solidFill>
                  <a:srgbClr val="D7E6F7"/>
                </a:solidFill>
                <a:latin typeface="Consolas"/>
              </a:defRPr>
            </a:pPr>
            <a:r>
              <a:t>@Test</a:t>
            </a:r>
            <a:br/>
            <a:r>
              <a:t>void creaServicioNormalizandoElCodigo() {</a:t>
            </a:r>
            <a:br/>
            <a:r>
              <a:t>    when(repository.save(any(Servicio.class)))</a:t>
            </a:r>
            <a:br/>
            <a:r>
              <a:t>        .thenAnswer(invocation -&gt; invocation.getArgument(0));</a:t>
            </a:r>
            <a:br/>
            <a:br/>
            <a:r>
              <a:t>    var creado = service.crear(</a:t>
            </a:r>
            <a:br/>
            <a:r>
              <a:t>        request(" srv-nuevo ", true));</a:t>
            </a:r>
            <a:br/>
            <a:br/>
            <a:r>
              <a:t>    assertThat(creado.codigo()).isEqualTo("SRV-NUEVO");</a:t>
            </a:r>
            <a:br/>
            <a:r>
              <a:t>    assertThat(creado.precio())</a:t>
            </a:r>
            <a:br/>
            <a:r>
              <a:t>        .isEqualByComparingTo("120.00");</a:t>
            </a:r>
            <a:br/>
            <a:r>
              <a:t>    verify(repository).save(any(Servicio.class));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1783080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7072" y="1783080"/>
            <a:ext cx="73152" cy="1115568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98424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AISLAMIENTO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423160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El repositorio se reemplaza por un mock.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3127248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3127248"/>
            <a:ext cx="73152" cy="1115568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328416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NORMALIZACIÓN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3767328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El código se guarda en mayúsculas y sin espacios.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471416"/>
            <a:ext cx="30175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77072" y="4471416"/>
            <a:ext cx="73152" cy="1115568"/>
          </a:xfrm>
          <a:prstGeom prst="rect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72583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6172E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5111496"/>
            <a:ext cx="25603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60708A"/>
                </a:solidFill>
                <a:latin typeface="Aptos"/>
              </a:defRPr>
            </a:pPr>
            <a:r>
              <a:t>Se verifican precio y operación de guardado.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833872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0708A"/>
                </a:solidFill>
                <a:latin typeface="Aptos"/>
              </a:defRPr>
            </a:pPr>
            <a:r>
              <a:t>ServicioServiceUnitTest.java · prueba aislada con Mockito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537960"/>
            <a:ext cx="6217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DESARROLLO WEB INTEGRADO · SMARTDENT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190A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E"/>
          </a:solidFill>
          <a:ln>
            <a:solidFill>
              <a:srgbClr val="06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mart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8912"/>
            <a:ext cx="2212848" cy="5163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399032"/>
            <a:ext cx="5760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FFFFFF"/>
                </a:solidFill>
                <a:latin typeface="Aptos"/>
              </a:defRPr>
            </a:pPr>
            <a:r>
              <a:t>Resultados del 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048256"/>
            <a:ext cx="56692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BED0E4"/>
                </a:solidFill>
                <a:latin typeface="Aptos"/>
              </a:defRPr>
            </a:pPr>
            <a:r>
              <a:t>Una base funcional, segura y preparada para evolucionar.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852928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761488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Frontend conectado a una API REST real.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46704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3255264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Persistencia central en MariaDB.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3840479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749039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Paneles separados para tres roles.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334256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242816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JWT, BCrypt y permisos por endpoint.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828031"/>
            <a:ext cx="109728" cy="109728"/>
          </a:xfrm>
          <a:prstGeom prst="ellipse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736592"/>
            <a:ext cx="498348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FFFFFF"/>
                </a:solidFill>
                <a:latin typeface="Aptos"/>
              </a:defRPr>
            </a:pPr>
            <a:r>
              <a:t>19 pruebas unitarias aprobadas.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1051560"/>
            <a:ext cx="4754880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4032" y="1508760"/>
            <a:ext cx="39136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D4A900"/>
                </a:solidFill>
                <a:latin typeface="Aptos"/>
              </a:defRPr>
            </a:pPr>
            <a:r>
              <a:t>PRÓXIMOS PASOS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0" y="2194560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2103120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Migrar el frontend a Angular.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0" y="2761488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670048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Incorporar validaciones y componentes reutilizables.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0" y="3328416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3236976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Reforzar seguridad para producción con HTTPS.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0" y="3895344"/>
            <a:ext cx="109728" cy="109728"/>
          </a:xfrm>
          <a:prstGeom prst="ellipse">
            <a:avLst/>
          </a:prstGeom>
          <a:solidFill>
            <a:srgbClr val="11D8E5"/>
          </a:solidFill>
          <a:ln>
            <a:solidFill>
              <a:srgbClr val="1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20" y="3803904"/>
            <a:ext cx="35204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06172E"/>
                </a:solidFill>
                <a:latin typeface="Aptos"/>
              </a:defRPr>
            </a:pPr>
            <a:r>
              <a:t>Desplegar frontend, API y base de datos en la nube.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773168"/>
            <a:ext cx="3474720" cy="45720"/>
          </a:xfrm>
          <a:prstGeom prst="rect">
            <a:avLst/>
          </a:prstGeom>
          <a:solidFill>
            <a:srgbClr val="D4A900"/>
          </a:solidFill>
          <a:ln>
            <a:solidFill>
              <a:srgbClr val="D4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5047488"/>
            <a:ext cx="3749039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06172E"/>
                </a:solidFill>
                <a:latin typeface="Aptos"/>
              </a:defRPr>
            </a:pPr>
            <a:r>
              <a:t>Gracias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486400"/>
            <a:ext cx="37490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60708A"/>
                </a:solidFill>
                <a:latin typeface="Aptos"/>
              </a:defRPr>
            </a:pPr>
            <a:r>
              <a:t>¿Preguntas?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92256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1">
                <a:solidFill>
                  <a:srgbClr val="8DA2B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1344</Words>
  <Application>Microsoft Office PowerPoint</Application>
  <PresentationFormat>Panorámica</PresentationFormat>
  <Paragraphs>233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kelvin acevedo</cp:lastModifiedBy>
  <cp:revision>2</cp:revision>
  <dcterms:created xsi:type="dcterms:W3CDTF">2013-01-27T09:14:16Z</dcterms:created>
  <dcterms:modified xsi:type="dcterms:W3CDTF">2026-09-07T20:11:27Z</dcterms:modified>
  <cp:category/>
</cp:coreProperties>
</file>